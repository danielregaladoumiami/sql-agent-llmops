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0E0E0E"/>
                </a:solidFill>
                <a:latin typeface="Calibri"/>
              </a:rPr>
              <a:t>SQL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5A5A5A"/>
                </a:solidFill>
                <a:latin typeface="Calibri"/>
              </a:rPr>
              <a:t>A multi-model system for natural-language data analysis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4846320"/>
            <a:ext cx="50292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71600" y="4983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5A5A5A"/>
                </a:solidFill>
                <a:latin typeface="Calibri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0E0E0E"/>
                </a:solidFill>
                <a:latin typeface="Calibri"/>
              </a:rPr>
              <a:t>Daniel Regalado Cardoso · Nefeli Zafeiri · Oliver Mazariegos · Eleniz Espina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A5A"/>
                </a:solidFill>
                <a:latin typeface="Calibri"/>
              </a:rPr>
              <a:t>MSBA · University of Miami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PROBLEM AND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Tabular data analysis still requires SQL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011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0E0E"/>
                </a:solidFill>
                <a:latin typeface="Calibri"/>
              </a:rPr>
              <a:t>Business users have tabular data and questions, but no working SQL knowledge. Existing options (manual SQL, generic chatbots, BI tools) trade off cost, accuracy, or accessibility.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8803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5A5A5A"/>
                </a:solidFill>
                <a:latin typeface="Calibri"/>
              </a:rPr>
              <a:t>OUR APPROACH — SIX PHASES FROM RAW DATA TO DEPLOYED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10 public
datasets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79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068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68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68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Curate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68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1.2M to 723k
rows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167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356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56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56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56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3 task
datasets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455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44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44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44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44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3 LoRA
adapters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743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932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32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32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Architect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32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Orchestrator
+ DuckDB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031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8220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20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20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20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Hugging Face
Spaces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5212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OBJECTIVE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" y="54864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0E0E"/>
                </a:solidFill>
                <a:latin typeface="Calibri"/>
              </a:rPr>
              <a:t>Accept a CSV/JSON file and a question in English. Return SQL, query results, a chart, and a written finding — at low cost on free GPU infrastructure.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Problem and methodology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PHASES 1, 2 AND 3 —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From 10 public datasets to three task corpora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6587" y="2011680"/>
            <a:ext cx="35204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6587" y="214884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0E0E0E"/>
                </a:solidFill>
                <a:latin typeface="Calibri"/>
              </a:rPr>
              <a:t>1.2M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587" y="269748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Raw rows from 10 public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011680"/>
            <a:ext cx="35204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5627" y="214884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0E0E0E"/>
                </a:solidFill>
                <a:latin typeface="Calibri"/>
              </a:rPr>
              <a:t>723k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5627" y="269748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Final usable training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4667" y="2011680"/>
            <a:ext cx="35204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4667" y="214884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0E0E0E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4667" y="269748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Task-specific datasets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3375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5A5A5A"/>
                </a:solidFill>
                <a:latin typeface="Calibri"/>
              </a:rPr>
              <a:t>PIPELINE — REPRODUCIBLE VIA UV SCRIPTS IN training/data_pipelines/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7463" y="365760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463" y="3822191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Calibri"/>
              </a:rPr>
              <a:t>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463" y="41605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10 public
datasets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67431.5" y="4160520"/>
            <a:ext cx="118872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913735" y="365760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13735" y="3822191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Calibri"/>
              </a:rPr>
              <a:t>Unify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3735" y="41605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7-column
canonical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43703.5" y="4160520"/>
            <a:ext cx="118872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90007" y="365760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0007" y="3822191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Calibri"/>
              </a:rPr>
              <a:t>Dedup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0007" y="41605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question
hashing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19975.5" y="4160520"/>
            <a:ext cx="118872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66279" y="365760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6279" y="3822191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Calibri"/>
              </a:rPr>
              <a:t>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6279" y="41605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≤ 1024
tokens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96247.5" y="4160520"/>
            <a:ext cx="118872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42551" y="365760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2551" y="3822191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Calibri"/>
              </a:rPr>
              <a:t>Split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551" y="41605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723k / 19k / 19k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6587" y="4983480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9467" y="51206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C96442"/>
                </a:solidFill>
                <a:latin typeface="Calibri"/>
              </a:rPr>
              <a:t>DATASET · 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467" y="5394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Menlo"/>
              </a:rPr>
              <a:t>text-to-sql-mix-v2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467" y="571500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761,155 rows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467" y="594360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10 public sources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35627" y="4983480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8507" y="51206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C96442"/>
                </a:solidFill>
                <a:latin typeface="Calibri"/>
              </a:rPr>
              <a:t>DATASET · 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18507" y="5394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Menlo"/>
              </a:rPr>
              <a:t>chart-reasoning-mix-v1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8507" y="571500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~75,000 rows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8507" y="594360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nvBench + GPT-4.1-nano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84667" y="4983480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7547" y="51206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C96442"/>
                </a:solidFill>
                <a:latin typeface="Calibri"/>
              </a:rPr>
              <a:t>DATASET · 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7547" y="5394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E0E0E"/>
                </a:solidFill>
                <a:latin typeface="Menlo"/>
              </a:rPr>
              <a:t>svg-chart-render-v1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7547" y="571500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~25,000 rows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7547" y="594360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matplotlib SVG re-renders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Data sourcing, curation, and datasets built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 4 — THREE FINE-TUNES (1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Model 01 · SQL Generator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2267712"/>
            <a:ext cx="365760" cy="54864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MODEL ·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E0E0E"/>
                </a:solidFill>
                <a:latin typeface="Calibri"/>
              </a:rPr>
              <a:t>SQL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91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3291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Translates a natural-language question and schema into a valid SQL query.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BASE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7947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Qwen 2.5 Coder 7B Instruct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text-to-sql-mix-v2 (672,949 examples)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QLoRA r=16, α=32, 4-bit base · TRL packing=True (154,462 packed sequences) · 1 epoch · 9,654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5440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1× NVIDIA L40S (48 GB) on Hugging Face Jobs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10312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13.5h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WALL-CLOCK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0.27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FINAL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~$24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COMPUTE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161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ADAPTER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5262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800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DanielRegaladoCardoso/sql-generator-qwen25-coder-7b-lora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53949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Sequence packing reduced training time from approximately 21 h to 13.5 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Phase 4 · Model 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 4 — THREE FINE-TUNES (2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Model 02 · Chart Reasoner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2267712"/>
            <a:ext cx="365760" cy="54864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MODEL ·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E0E0E"/>
                </a:solidFill>
                <a:latin typeface="Calibri"/>
              </a:rPr>
              <a:t>Chart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91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3291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Given a question and SQL result rows, decides the chart type and which columns to plot.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BASE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7947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Microsoft Phi-3 Mini 4k Instruct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chart-reasoning-mix-v1 (~75,000 pairs)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QLoRA r=16, α=32, 4-bit base · 1 epoch · structured-JSON output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5440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HF Jobs A10G / Colab Pro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10312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~3h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WALL-CLOCK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FINAL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~$3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COMPUTE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38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ADAPTER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5262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800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DanielRegaladoCardoso/chart-reasoner-phi3-mini-adapter-only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53949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Outputs a JSON spec with chart_type, x_column, y_column, title, color, and rationale.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Phase 4 · Model 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 4 — THREE FINE-TUNES (3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Model 03 · SVG Renderer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2267712"/>
            <a:ext cx="365760" cy="54864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MODEL ·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E0E0E"/>
                </a:solidFill>
                <a:latin typeface="Calibri"/>
              </a:rPr>
              <a:t>SVG Renderer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91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3291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Given a chart spec and data, produces inline SVG markup for the visualization.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BASE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7947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DeepSeek Coder 1.3B Instruct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svg-chart-render-v1 (~25,000 chart-spec → SVG pairs)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QLoRA r=16, α=32, 4-bit base · 1 epoch · code-generation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5440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Colab T4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10312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~2h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WALL-CLOCK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~0.40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FINAL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~$1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COMPUTE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22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ADAPTER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5262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800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DanielRegaladoCardoso/svg-renderer-deepseek-coder-1.3b-lora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53949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When model output fails SVG validation, the system falls back to a themed Plotly renderer.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Phase 4 · Model 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PHASES 5 AND 6 — ARCHITECTURE AND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End-to-end query flow and total compute spend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1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1451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CSV / NL Q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95347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23363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23363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Schema +
DuckDB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77259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05275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0E0E0E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05275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9171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87187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7187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SQL Generator
Qwen + LoRA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41083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69099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9099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Chart Reasoner
Phi-3 + LoRA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22995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551011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1011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SVG Renderer
DeepSeek + LoRA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04907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132923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C96442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32923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Chart +
finding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3520440"/>
            <a:ext cx="10671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Per query: 4 model calls + DuckDB execution. End-to-end latency 5–8 s on a warm GPU.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3840480"/>
            <a:ext cx="10671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Adapters loaded once at module level on a half-H200 via Hugging Face ZeroGPU. Self-correcting SQL retries on failure.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4348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TOTAL COMPUTE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47548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400" b="1">
                <a:solidFill>
                  <a:srgbClr val="0E0E0E"/>
                </a:solidFill>
                <a:latin typeface="Calibri"/>
              </a:rPr>
              <a:t>$30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5989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5A5A5A"/>
                </a:solidFill>
                <a:latin typeface="Calibri"/>
              </a:rPr>
              <a:t>ALL-IN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754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SQL Generator training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754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L40S, 13.5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754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074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Chart Reasoner training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074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Colab / HF Jobs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5074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SVG Renderer training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394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Colab / HF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53949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571499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GPT-4.1-nano distillation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7149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OpenAI Batch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571499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~$2.50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6035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Inference hosting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6035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ZeroGPU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0350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Architecture and cost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DEMO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Live system demo and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10671048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E0E0E"/>
                </a:solidFill>
                <a:latin typeface="Calibri"/>
              </a:rPr>
              <a:t>huggingface.co/spaces/DanielRegaladoCardoso/sql-agent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A5A"/>
                </a:solidFill>
                <a:latin typeface="Calibri"/>
              </a:rPr>
              <a:t>Upload a CSV, ask a question. The system returns SQL, results, a chart, and a written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657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WHAT WE DELIVERED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200">
                <a:solidFill>
                  <a:srgbClr val="0E0E0E"/>
                </a:solidFill>
                <a:latin typeface="Calibri"/>
              </a:rPr>
              <a:t>•  Three open-source datasets on Hugging Face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Three QLoRA adapters trained on those datasets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A working multi-model agent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Total compute cost approximately $30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977639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200">
                <a:solidFill>
                  <a:srgbClr val="0E0E0E"/>
                </a:solidFill>
                <a:latin typeface="Calibri"/>
              </a:rPr>
              <a:t>•  Quantitative evaluation on Spider, WikiSQL, BIRD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Multi-turn conversational memory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Anomaly detection on uploaded data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Statistical summary at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6126480"/>
            <a:ext cx="10671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github.com/DanielRegaladoUMiami/sql-agent-llmops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6446520"/>
            <a:ext cx="10671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Daniel Regalado Cardoso · Nefeli Zafeiri · Oliver Mazariegos · Eleniz Espina · MSBA UMiami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