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411480"/>
            <a:ext cx="292608" cy="3657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>
                <a:solidFill>
                  <a:srgbClr val="0E0E0E"/>
                </a:solidFill>
                <a:latin typeface="Calibri"/>
              </a:rPr>
              <a:t>SQL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5A5A5A"/>
                </a:solidFill>
                <a:latin typeface="Calibri"/>
              </a:rPr>
              <a:t>A multi-model system for natural-language data analysis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484632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71600" y="4983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5A5A5A"/>
                </a:solidFill>
                <a:latin typeface="Calibri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57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0E0E0E"/>
                </a:solidFill>
                <a:latin typeface="Calibri"/>
              </a:rPr>
              <a:t>Daniel Regalado Cardoso · Nefeli Zafeiri · Oliver Mazariegos · Eleniz Espina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5A5A"/>
                </a:solidFill>
                <a:latin typeface="Calibri"/>
              </a:rPr>
              <a:t>MSBA · University of Miami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411480"/>
            <a:ext cx="292608" cy="3657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6710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Tabular data analysis still requires SQL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0E0E0E"/>
                </a:solidFill>
                <a:latin typeface="Calibri"/>
              </a:rPr>
              <a:t>Business users frequently have: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60604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400">
                <a:solidFill>
                  <a:srgbClr val="0E0E0E"/>
                </a:solidFill>
                <a:latin typeface="Calibri"/>
              </a:rPr>
              <a:t>•  Tabular data they need to query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400">
                <a:solidFill>
                  <a:srgbClr val="0E0E0E"/>
                </a:solidFill>
                <a:latin typeface="Calibri"/>
              </a:rPr>
              <a:t>•  Specific questions in mind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400">
                <a:solidFill>
                  <a:srgbClr val="0E0E0E"/>
                </a:solidFill>
                <a:latin typeface="Calibri"/>
              </a:rPr>
              <a:t>•  No working SQL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42062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A5A5A"/>
                </a:solidFill>
                <a:latin typeface="Calibri"/>
              </a:rPr>
              <a:t>Existing options (manual SQL, generic chatbots, BI tools) each have trade-offs in cost, accuracy, or accessibility.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0292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331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06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E0E0E"/>
                </a:solidFill>
                <a:latin typeface="Calibri"/>
              </a:rPr>
              <a:t>Build a system that: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108960"/>
            <a:ext cx="4572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300">
                <a:solidFill>
                  <a:srgbClr val="0E0E0E"/>
                </a:solidFill>
                <a:latin typeface="Calibri"/>
              </a:rPr>
              <a:t>1.  Accepts a CSV or JSON file as input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300">
                <a:solidFill>
                  <a:srgbClr val="0E0E0E"/>
                </a:solidFill>
                <a:latin typeface="Calibri"/>
              </a:rPr>
              <a:t>2.  Accepts a question in natural language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300">
                <a:solidFill>
                  <a:srgbClr val="0E0E0E"/>
                </a:solidFill>
                <a:latin typeface="Calibri"/>
              </a:rPr>
              <a:t>3.  Returns the answer as a chart and a written finding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300">
                <a:solidFill>
                  <a:srgbClr val="0E0E0E"/>
                </a:solidFill>
                <a:latin typeface="Calibri"/>
              </a:rPr>
              <a:t>4.  Runs at low cost on free GPU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411480"/>
            <a:ext cx="292608" cy="3657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6710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Six phases from raw data to deployed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8027" y="2926080"/>
            <a:ext cx="16916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8027" y="30632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>
                <a:solidFill>
                  <a:srgbClr val="C9644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027" y="32918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0E0E0E"/>
                </a:solidFill>
                <a:latin typeface="Calibri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027" y="365760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10 public
datasets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87955.5" y="3657600"/>
            <a:ext cx="100584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06827" y="2926080"/>
            <a:ext cx="16916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6827" y="30632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>
                <a:solidFill>
                  <a:srgbClr val="C9644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6827" y="32918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0E0E0E"/>
                </a:solidFill>
                <a:latin typeface="Calibri"/>
              </a:rPr>
              <a:t>Curate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6827" y="365760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1.2M to 723k
rows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16755.5" y="3657600"/>
            <a:ext cx="100584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35627" y="2926080"/>
            <a:ext cx="16916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5627" y="30632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>
                <a:solidFill>
                  <a:srgbClr val="C96442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5627" y="32918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0E0E0E"/>
                </a:solidFill>
                <a:latin typeface="Calibri"/>
              </a:rP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5627" y="365760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3 task
datasets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45555.5" y="3657600"/>
            <a:ext cx="100584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4427" y="2926080"/>
            <a:ext cx="16916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4427" y="30632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>
                <a:solidFill>
                  <a:srgbClr val="C96442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4427" y="32918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0E0E0E"/>
                </a:solidFill>
                <a:latin typeface="Calibri"/>
              </a:rPr>
              <a:t>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4427" y="365760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3 LoRA
adapters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74355.5" y="3657600"/>
            <a:ext cx="100584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93227" y="2926080"/>
            <a:ext cx="16916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3227" y="30632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>
                <a:solidFill>
                  <a:srgbClr val="C96442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3227" y="32918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0E0E0E"/>
                </a:solidFill>
                <a:latin typeface="Calibri"/>
              </a:rPr>
              <a:t>Architect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3227" y="365760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Orchestrator
+ DuckDB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03155.5" y="3657600"/>
            <a:ext cx="100584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22027" y="2926080"/>
            <a:ext cx="16916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2027" y="30632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>
                <a:solidFill>
                  <a:srgbClr val="C96442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2027" y="32918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0E0E0E"/>
                </a:solidFill>
                <a:latin typeface="Calibri"/>
              </a:rPr>
              <a:t>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2027" y="365760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Hugging Face
Spaces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5029200"/>
            <a:ext cx="10671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A5A5A"/>
                </a:solidFill>
                <a:latin typeface="Calibri"/>
              </a:rPr>
              <a:t>Each phase produces a reproducible artifact — a dataset, a model adapter, or a deployable component.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440680"/>
            <a:ext cx="10671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A5A5A"/>
                </a:solidFill>
                <a:latin typeface="Calibri"/>
              </a:rPr>
              <a:t>The repository contains the scripts to recreate each step.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Methodology overview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411480"/>
            <a:ext cx="292608" cy="3657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PHASE 1 — SOURCING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6710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Aggregating ten public text-to-SQL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0E0E0E"/>
                </a:solidFill>
                <a:latin typeface="Calibri"/>
              </a:rPr>
              <a:t>Selected ten existing datasets covering different schemas and SQL dialects: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4320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200">
                <a:solidFill>
                  <a:srgbClr val="0E0E0E"/>
                </a:solidFill>
                <a:latin typeface="Menlo"/>
              </a:rPr>
              <a:t>•  b-mc2/sql-create-context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Menlo"/>
              </a:rPr>
              <a:t>•  gretelai/synthetic_text_to_sql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Menlo"/>
              </a:rPr>
              <a:t>•  knowrohit07/know_sql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Menlo"/>
              </a:rPr>
              <a:t>•  NumbersStation/NSText2SQL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Menlo"/>
              </a:rPr>
              <a:t>•  Clinton/Text-to-sql-v1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Menlo"/>
              </a:rPr>
              <a:t>•  motherduckdb/duckdb-text2sql-25k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Menlo"/>
              </a:rPr>
              <a:t>•  bugdaryan/spider-natsql-wikisql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Menlo"/>
              </a:rPr>
              <a:t>•  ChrisHayduk/Llama-2-SQL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Menlo"/>
              </a:rPr>
              <a:t>•  kaxap/llama2-sql-instruct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Menlo"/>
              </a:rPr>
              <a:t>•  PipableAI/spider-bird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RATIONALE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0E0E0E"/>
                </a:solidFill>
                <a:latin typeface="Calibri"/>
              </a:rPr>
              <a:t>Building a corpus from scratch was not feasible within the project timeline. Public datasets give us schema diversity and large coverage with permissive licenses.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COMBINED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8056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0E0E0E"/>
                </a:solidFill>
                <a:latin typeface="Calibri"/>
              </a:rPr>
              <a:t>Approximately 1.2 million rows before cleaning. Heterogeneous formats and varying quality, requiring substantial pre-processing.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Phase 1 · Sourcing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411480"/>
            <a:ext cx="292608" cy="3657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PHASE 2 — CURATION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6710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Cleaning the merged corpus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246888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6974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>
                <a:solidFill>
                  <a:srgbClr val="0E0E0E"/>
                </a:solidFill>
                <a:latin typeface="Calibri"/>
              </a:rPr>
              <a:t>10 raw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32004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1.2M rows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56535.5" y="3108960"/>
            <a:ext cx="73152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47975" y="246888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7975" y="26974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>
                <a:solidFill>
                  <a:srgbClr val="0E0E0E"/>
                </a:solidFill>
                <a:latin typeface="Calibri"/>
              </a:rPr>
              <a:t>Schema unification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7975" y="32004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7-col format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57903.5" y="3108960"/>
            <a:ext cx="73152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49343" y="246888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9343" y="26974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>
                <a:solidFill>
                  <a:srgbClr val="0E0E0E"/>
                </a:solidFill>
                <a:latin typeface="Calibri"/>
              </a:rPr>
              <a:t>Deduplication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9343" y="32004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question hashing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59271.5" y="3108960"/>
            <a:ext cx="73152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50711" y="246888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0711" y="26974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>
                <a:solidFill>
                  <a:srgbClr val="0E0E0E"/>
                </a:solidFill>
                <a:latin typeface="Calibri"/>
              </a:rPr>
              <a:t>Length 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32004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≤ 1024 tokens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60639.5" y="3108960"/>
            <a:ext cx="73152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52079" y="246888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2079" y="26974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>
                <a:solidFill>
                  <a:srgbClr val="0E0E0E"/>
                </a:solidFill>
                <a:latin typeface="Calibri"/>
              </a:rPr>
              <a:t>Final corpus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2079" y="32004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761,155 rows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62007.5" y="3108960"/>
            <a:ext cx="73152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53447" y="246888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53447" y="26974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>
                <a:solidFill>
                  <a:srgbClr val="0E0E0E"/>
                </a:solidFill>
                <a:latin typeface="Calibri"/>
              </a:rPr>
              <a:t>Train / Val /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3447" y="320040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723k / 19k / 19k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207" y="42976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3600" b="1">
                <a:solidFill>
                  <a:srgbClr val="0E0E0E"/>
                </a:solidFill>
                <a:latin typeface="Calibri"/>
              </a:rPr>
              <a:t>1.2M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207" y="5074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RAW ROWS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6967" y="42976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3600" b="1">
                <a:solidFill>
                  <a:srgbClr val="0E0E0E"/>
                </a:solidFill>
                <a:latin typeface="Calibri"/>
              </a:rPr>
              <a:t>761k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6967" y="5074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AFTER DEDUP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8727" y="42976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3600" b="1">
                <a:solidFill>
                  <a:srgbClr val="0E0E0E"/>
                </a:solidFill>
                <a:latin typeface="Calibri"/>
              </a:rPr>
              <a:t>93%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8727" y="5074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PASS LENGTH FILTER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30487" y="42976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3600" b="1">
                <a:solidFill>
                  <a:srgbClr val="0E0E0E"/>
                </a:solidFill>
                <a:latin typeface="Calibri"/>
              </a:rPr>
              <a:t>723k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0487" y="5074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FINAL TRAINING 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852160"/>
            <a:ext cx="10671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All transformations are implemented as UV scripts in training/data_pipelines/ and are reproducible.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Phase 2 · Curation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411480"/>
            <a:ext cx="292608" cy="3657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PHASE 3 — TASK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6710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Three datasets, one per model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427" y="2103120"/>
            <a:ext cx="36118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6587" y="2240280"/>
            <a:ext cx="274320" cy="4572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587" y="23774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DATASET ·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587" y="26974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0E0E0E"/>
                </a:solidFill>
                <a:latin typeface="Menlo"/>
              </a:rPr>
              <a:t>text-to-sql-mix-v2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587" y="329184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1">
                <a:solidFill>
                  <a:srgbClr val="0E0E0E"/>
                </a:solidFill>
                <a:latin typeface="Calibri"/>
              </a:rPr>
              <a:t>761,155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587" y="39319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587" y="4297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License · Apache-2.0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587" y="457200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0E0E0E"/>
                </a:solidFill>
                <a:latin typeface="Calibri"/>
              </a:rPr>
              <a:t>10 merged public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587" y="55321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C96442"/>
                </a:solidFill>
                <a:latin typeface="Calibri"/>
              </a:rPr>
              <a:t>huggingface.co/datasets/DanielRegaladoCardoso/text-to-sql-mix-v2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9907" y="2103120"/>
            <a:ext cx="36118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27067" y="2240280"/>
            <a:ext cx="274320" cy="4572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7067" y="23774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DATASET ·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7067" y="26974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0E0E0E"/>
                </a:solidFill>
                <a:latin typeface="Menlo"/>
              </a:rPr>
              <a:t>chart-reasoning-mix-v1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7067" y="329184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1">
                <a:solidFill>
                  <a:srgbClr val="0E0E0E"/>
                </a:solidFill>
                <a:latin typeface="Calibri"/>
              </a:rPr>
              <a:t>~75,000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7067" y="39319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7067" y="4297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License · CC-BY-4.0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7067" y="457200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0E0E0E"/>
                </a:solidFill>
                <a:latin typeface="Calibri"/>
              </a:rPr>
              <a:t>nvBench (25k) + GPT-4.1-nano knowledge distillation (50k)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7067" y="55321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C96442"/>
                </a:solidFill>
                <a:latin typeface="Calibri"/>
              </a:rPr>
              <a:t>huggingface.co/datasets/DanielRegaladoCardoso/chart-reasoning-mix-v1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0387" y="2103120"/>
            <a:ext cx="36118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67547" y="2240280"/>
            <a:ext cx="274320" cy="45720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7547" y="23774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DATASET ·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7547" y="26974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0E0E0E"/>
                </a:solidFill>
                <a:latin typeface="Menlo"/>
              </a:rPr>
              <a:t>svg-chart-render-v1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7547" y="329184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1">
                <a:solidFill>
                  <a:srgbClr val="0E0E0E"/>
                </a:solidFill>
                <a:latin typeface="Calibri"/>
              </a:rPr>
              <a:t>~25,000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7547" y="39319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7547" y="4297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License · Apache-2.0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7547" y="4572000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0E0E0E"/>
                </a:solidFill>
                <a:latin typeface="Calibri"/>
              </a:rPr>
              <a:t>nvBench charts re-rendered via matplotlib SVG 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7547" y="55321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C96442"/>
                </a:solidFill>
                <a:latin typeface="Calibri"/>
              </a:rPr>
              <a:t>huggingface.co/datasets/DanielRegaladoCardoso/svg-chart-render-v1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Phase 3 · Task datasets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411480"/>
            <a:ext cx="292608" cy="3657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PHASE 4 — TRAINING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6710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QLoRA via Unsloth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0E0E0E"/>
                </a:solidFill>
                <a:latin typeface="Calibri"/>
              </a:rPr>
              <a:t>We use 4-bit QLoRA with the Unsloth library for all three fine-tunes.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834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REASONS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10896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300">
                <a:solidFill>
                  <a:srgbClr val="0E0E0E"/>
                </a:solidFill>
                <a:latin typeface="Calibri"/>
              </a:rPr>
              <a:t>•  Allows training a 7B model on a single 48 GB GPU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300">
                <a:solidFill>
                  <a:srgbClr val="0E0E0E"/>
                </a:solidFill>
                <a:latin typeface="Calibri"/>
              </a:rPr>
              <a:t>•  Approximately 2× faster than vanilla transformers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300">
                <a:solidFill>
                  <a:srgbClr val="0E0E0E"/>
                </a:solidFill>
                <a:latin typeface="Calibri"/>
              </a:rPr>
              <a:t>•  Approximately 40% lower memory consumption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300">
                <a:solidFill>
                  <a:srgbClr val="0E0E0E"/>
                </a:solidFill>
                <a:latin typeface="Calibri"/>
              </a:rPr>
              <a:t>•  Output is a 160 MB adapter rather than 14 GB of full weights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94560"/>
            <a:ext cx="45720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ASPECT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377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VANILLA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377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UNSLOTH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743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7B on 48 GB GPU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743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5A5A"/>
                </a:solidFill>
                <a:latin typeface="Calibri"/>
              </a:rPr>
              <a:t>does not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743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0E0E"/>
                </a:solidFill>
                <a:latin typeface="Calibri"/>
              </a:rPr>
              <a:t>fits in 4-bit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2004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5A5A"/>
                </a:solidFill>
                <a:latin typeface="Calibri"/>
              </a:rPr>
              <a:t>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2004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0E0E"/>
                </a:solidFill>
                <a:latin typeface="Calibri"/>
              </a:rPr>
              <a:t>~2× faster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6576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5A5A"/>
                </a:solidFill>
                <a:latin typeface="Calibri"/>
              </a:rPr>
              <a:t>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6576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0E0E"/>
                </a:solidFill>
                <a:latin typeface="Calibri"/>
              </a:rPr>
              <a:t>~40% less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114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5A5A"/>
                </a:solidFill>
                <a:latin typeface="Calibri"/>
              </a:rPr>
              <a:t>14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114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0E0E"/>
                </a:solidFill>
                <a:latin typeface="Calibri"/>
              </a:rPr>
              <a:t>160 MB adapter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Phase 4 · Training 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411480"/>
            <a:ext cx="292608" cy="3657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PHASE 4 — THREE FINE-TUNES (1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6710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Model 01 · SQL Generator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1031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" y="2267712"/>
            <a:ext cx="365760" cy="54864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77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MODEL ·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E0E0E"/>
                </a:solidFill>
                <a:latin typeface="Calibri"/>
              </a:rPr>
              <a:t>SQL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3246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Translates a natural-language question and schema into a valid SQL query.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49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BASE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3749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Qwen 2.5 Coder 7B Instruct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51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4251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text-to-sql-mix-v2 (672,949 examples)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754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4754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QLoRA r=16, α=32, 4-bit base · TRL packing=True (154,462 packed sequences) · 1 epoch · 9,654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394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5394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1× NVIDIA L40S (48 GB) on Hugging Face Jobs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9672" y="2103120"/>
            <a:ext cx="49377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23317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13.5h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2880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WALL-CLOCK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23317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0.27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880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FINAL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3832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~$24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931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COMPUTE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33832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161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3931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ADAPTER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45262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4800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C96442"/>
                </a:solidFill>
                <a:latin typeface="Menlo"/>
              </a:rPr>
              <a:t>DanielRegaladoCardoso/sql-generator-qwen25-coder-7b-lora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53949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Sequence packing reduced training time from approximately 21 h to 13.5 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Phase 4 · Model 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411480"/>
            <a:ext cx="292608" cy="3657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PHASE 4 — THREE FINE-TUNES (2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6710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Model 02 · Chart Reasoner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1031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" y="2267712"/>
            <a:ext cx="365760" cy="54864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77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MODEL ·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E0E0E"/>
                </a:solidFill>
                <a:latin typeface="Calibri"/>
              </a:rPr>
              <a:t>Chart Reasoner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3246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Given a question and SQL result rows, decides the chart type and which columns to plot.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49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BASE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3749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Microsoft Phi-3 Mini 4k Instruct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51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4251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chart-reasoning-mix-v1 (~75,000 pairs)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754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4754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QLoRA r=16, α=32, 4-bit base · 1 epoch · structured-JSON output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394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5394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HF Jobs A10G / Colab Pro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9672" y="2103120"/>
            <a:ext cx="49377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23317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~3h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2880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WALL-CLOCK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23317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~0.31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880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FINAL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3832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~$3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931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COMPUTE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33832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38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3931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ADAPTER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45262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4800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C96442"/>
                </a:solidFill>
                <a:latin typeface="Menlo"/>
              </a:rPr>
              <a:t>DanielRegaladoCardoso/chart-reasoner-phi3-mini-adapter-only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53949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Outputs a JSON spec with chart_type, x_column, y_column, title, color, and rationale.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Phase 4 · Model 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411480"/>
            <a:ext cx="292608" cy="3657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PHASE 4 — THREE FINE-TUNES (3 OF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6710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Model 03 · SVG Renderer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10312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" y="2267712"/>
            <a:ext cx="365760" cy="54864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77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MODEL ·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0E0E0E"/>
                </a:solidFill>
                <a:latin typeface="Calibri"/>
              </a:rPr>
              <a:t>SVG Renderer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3246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Given a chart spec and data, produces inline SVG markup for the visualization.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49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BASE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3749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DeepSeek Coder 1.3B Instruct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51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4251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svg-chart-render-v1 (~25,000 chart-spec → SVG pairs)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754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4754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QLoRA r=16, α=32, 4-bit base · 1 epoch · code-generation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394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5394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Colab T4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9672" y="2103120"/>
            <a:ext cx="49377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23317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~2h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2880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WALL-CLOCK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23317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~0.40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880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FINAL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3832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~$1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931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COMPUTE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33832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22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39319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ADAPTER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45262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5A5A5A"/>
                </a:solidFill>
                <a:latin typeface="Calibri"/>
              </a:rPr>
              <a:t>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4800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C96442"/>
                </a:solidFill>
                <a:latin typeface="Menlo"/>
              </a:rPr>
              <a:t>DanielRegaladoCardoso/svg-renderer-deepseek-coder-1.3b-lora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53949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When model output fails SVG validation, the system falls back to a themed Plotly renderer.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Phase 4 · Model 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411480"/>
            <a:ext cx="292608" cy="3657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PHASE 5 —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6710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End-to-end query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451" y="274320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451" y="310896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>
                <a:solidFill>
                  <a:srgbClr val="0E0E0E"/>
                </a:solidFill>
                <a:latin typeface="Calibri"/>
              </a:rPr>
              <a:t>CSV / NL Q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95347.5" y="3429000"/>
            <a:ext cx="91440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23363" y="274320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3363" y="310896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>
                <a:solidFill>
                  <a:srgbClr val="0E0E0E"/>
                </a:solidFill>
                <a:latin typeface="Calibri"/>
              </a:rPr>
              <a:t>Schema +
DuckDB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77259.5" y="3429000"/>
            <a:ext cx="91440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05275" y="274320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0E0E0E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5275" y="310896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9171.5" y="3429000"/>
            <a:ext cx="91440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87187" y="274320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7187" y="310896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>
                <a:solidFill>
                  <a:srgbClr val="0E0E0E"/>
                </a:solidFill>
                <a:latin typeface="Calibri"/>
              </a:rPr>
              <a:t>SQL Generator
Qwen + LoRA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41083.5" y="3429000"/>
            <a:ext cx="91440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69099" y="274320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9099" y="310896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>
                <a:solidFill>
                  <a:srgbClr val="0E0E0E"/>
                </a:solidFill>
                <a:latin typeface="Calibri"/>
              </a:rPr>
              <a:t>Chart Reasoner
Phi-3 + LoRA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22995.5" y="3429000"/>
            <a:ext cx="91440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51011" y="274320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1011" y="310896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>
                <a:solidFill>
                  <a:srgbClr val="0E0E0E"/>
                </a:solidFill>
                <a:latin typeface="Calibri"/>
              </a:rPr>
              <a:t>SVG Renderer
DeepSeek + LoRA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04907.5" y="3429000"/>
            <a:ext cx="91440.0" cy="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32923" y="274320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C96442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2923" y="310896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Chart +
finding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846320"/>
            <a:ext cx="10671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0E0E0E"/>
                </a:solidFill>
                <a:latin typeface="Calibri"/>
              </a:rPr>
              <a:t>Per query: four model invocations and a DuckDB execution. End-to-end latency: 5–8 seconds on a warm GPU.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349240"/>
            <a:ext cx="10671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A5A5A"/>
                </a:solidFill>
                <a:latin typeface="Calibri"/>
              </a:rPr>
              <a:t>All adapters loaded once at module level on a half-H200 via Hugging Face ZeroGPU.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760720"/>
            <a:ext cx="10671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A5A5A"/>
                </a:solidFill>
                <a:latin typeface="Calibri"/>
              </a:rPr>
              <a:t>Self-correcting SQL: failed queries retried up to three times with the error in context.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Phase 5 · System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411480"/>
            <a:ext cx="292608" cy="3657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PHASE 6 — DEPLOYMENT AND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6710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Total compute cost: approximately $30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194560"/>
            <a:ext cx="59436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423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5A5A5A"/>
                </a:solidFill>
                <a:latin typeface="Calibri"/>
              </a:rPr>
              <a:t>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4992" y="2423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5A5A5A"/>
                </a:solidFill>
                <a:latin typeface="Calibri"/>
              </a:rPr>
              <a:t>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96712" y="2423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5A5A5A"/>
                </a:solidFill>
                <a:latin typeface="Calibri"/>
              </a:rPr>
              <a:t>Cost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6112" y="2807208"/>
            <a:ext cx="56692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7552" y="2880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SQL Generator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2880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HF Jobs L40S, 13.5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6712" y="28803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~$24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337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Chart Reasoner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3337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Colab / HF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712" y="33375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~$3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794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SVG Renderer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794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Colab / HF 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37947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~$1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2519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GPT-4.1-nano distillation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42519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OpenAI Batch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96712" y="42519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~$2.50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09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Inference 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4709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HF Spaces ZeroGPU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6712" y="4709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E0E0E"/>
                </a:solidFill>
                <a:latin typeface="Calibri"/>
              </a:rPr>
              <a:t>$0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6112" y="5093208"/>
            <a:ext cx="56692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87552" y="5166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0E0E"/>
                </a:solidFill>
                <a:latin typeface="Calibri"/>
              </a:rPr>
              <a:t>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5166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0E0E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96712" y="51663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0E0E0E"/>
                </a:solidFill>
                <a:latin typeface="Calibri"/>
              </a:rPr>
              <a:t>~$30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37744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400" b="1">
                <a:solidFill>
                  <a:srgbClr val="0E0E0E"/>
                </a:solidFill>
                <a:latin typeface="Calibri"/>
              </a:rPr>
              <a:t>$30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6576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5A5A5A"/>
                </a:solidFill>
                <a:latin typeface="Calibri"/>
              </a:rPr>
              <a:t>ALL-IN COMPUTE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2062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WHY THE COST IS 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5262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100">
                <a:solidFill>
                  <a:srgbClr val="0E0E0E"/>
                </a:solidFill>
                <a:latin typeface="Calibri"/>
              </a:rPr>
              <a:t>•  Unsloth QLoRA reduces memory and time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100">
                <a:solidFill>
                  <a:srgbClr val="0E0E0E"/>
                </a:solidFill>
                <a:latin typeface="Calibri"/>
              </a:rPr>
              <a:t>•  Sequence packing cuts SQL training time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100">
                <a:solidFill>
                  <a:srgbClr val="0E0E0E"/>
                </a:solidFill>
                <a:latin typeface="Calibri"/>
              </a:rPr>
              <a:t>•  ZeroGPU is free for inference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100">
                <a:solidFill>
                  <a:srgbClr val="0E0E0E"/>
                </a:solidFill>
                <a:latin typeface="Calibri"/>
              </a:rPr>
              <a:t>•  Only adapters are stored, not full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Phase 6 · Deployment and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5A5A5A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411480"/>
            <a:ext cx="292608" cy="36576"/>
          </a:xfrm>
          <a:prstGeom prst="rect">
            <a:avLst/>
          </a:prstGeom>
          <a:solidFill>
            <a:srgbClr val="C96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DEMONSTRATION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6710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E0E0E"/>
                </a:solidFill>
                <a:latin typeface="Calibri"/>
              </a:rPr>
              <a:t>Live system demo and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103120"/>
            <a:ext cx="10671048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0E0E0E"/>
                </a:solidFill>
                <a:latin typeface="Calibri"/>
              </a:rPr>
              <a:t>huggingface.co/spaces/DanielRegaladoCardoso/sql-agent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5A5A"/>
                </a:solidFill>
                <a:latin typeface="Calibri"/>
              </a:rPr>
              <a:t>Upload a CSV, ask a question. The system returns SQL, results, a chart, and a written finding.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657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WHAT WE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977639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0E0E0E"/>
                </a:solidFill>
                <a:latin typeface="Calibri"/>
              </a:rPr>
              <a:t>•  Three open-source datasets on Hugging Face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Calibri"/>
              </a:rPr>
              <a:t>•  Three QLoRA adapters trained on those datasets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Calibri"/>
              </a:rPr>
              <a:t>•  A working multi-model agent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Calibri"/>
              </a:rPr>
              <a:t>•  Total compute cost approximately $30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C96442"/>
                </a:solidFill>
                <a:latin typeface="Calibri"/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977639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0E0E0E"/>
                </a:solidFill>
                <a:latin typeface="Calibri"/>
              </a:rPr>
              <a:t>•  Quantitative evaluation on Spider, WikiSQL, BIRD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Calibri"/>
              </a:rPr>
              <a:t>•  Multi-turn conversational memory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Calibri"/>
              </a:rPr>
              <a:t>•  Anomaly detection on uploaded data</a:t>
            </a: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sz="1200">
                <a:solidFill>
                  <a:srgbClr val="0E0E0E"/>
                </a:solidFill>
                <a:latin typeface="Calibri"/>
              </a:rPr>
              <a:t>•  Statistical summary at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6126480"/>
            <a:ext cx="10671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C96442"/>
                </a:solidFill>
                <a:latin typeface="Menlo"/>
              </a:rPr>
              <a:t>github.com/DanielRegaladoUMiami/sql-agent-llmops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6446520"/>
            <a:ext cx="10671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5A5A"/>
                </a:solidFill>
                <a:latin typeface="Calibri"/>
              </a:rPr>
              <a:t>Daniel Regalado Cardoso · Nefeli Zafeiri · Oliver Mazariegos · Eleniz Espina · MSBA UMiami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